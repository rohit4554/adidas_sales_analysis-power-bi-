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8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30" autoAdjust="0"/>
  </p:normalViewPr>
  <p:slideViewPr>
    <p:cSldViewPr snapToGrid="0" snapToObjects="1">
      <p:cViewPr varScale="1">
        <p:scale>
          <a:sx n="98" d="100"/>
          <a:sy n="98" d="100"/>
        </p:scale>
        <p:origin x="82" y="1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1894-7443-15AF-61E3-2163F94C7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101669-CCCB-54E5-2D34-A1814205A2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F5A9F-DD75-855C-7F45-9E3AB4359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9968-F071-5167-24E1-731121FC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1526A-10AB-12A0-688A-A00D75D34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1594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E6842-A277-4DA0-D1F5-028CED912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A1DDB-068C-C500-DF4B-F259F0BFE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7A0AA-CBE0-9F29-F3F9-70D6749B4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08BB3-F703-9B6D-8C27-72229F99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D08FE-0371-E946-D8E6-7FCCDE2E6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32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C8309-1C11-B321-D2C9-A11BD2F1D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DDFA1-DB81-0864-DE15-EECF786AA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4FC19-AE43-D707-6ACB-85AD9D663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12F94-16E3-CBF6-E1CF-08AE1ED3C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0F66D-0AEE-1AD8-2042-592DA7B35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9697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1CCE9-2DD9-30FB-7F28-024A1CD50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F377B-FF93-4DBB-70CE-60B21C7008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717C7-D9B1-2FEF-3AB9-F91B72D50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4199A-80B5-9668-DB00-948BA07CD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7A0584-E2D9-2E33-67A0-F7260DE1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556C5-3D24-C8A2-3B3B-ED272B56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9780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8B32E-DD23-83DF-15C3-FAC38B4B4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20B58-A97C-DC63-A22A-4F60FBCEEC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3811-FD9F-E693-70F8-AE503E807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E0835-3F59-320F-7241-C9D696D95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BC9ADF-DEF7-80C1-8B7A-D1E3E8263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38EAF-40BE-8654-2500-A94CEC0ED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10EB4-8B8B-F3E2-6F1F-C5112F44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CF787D-5A12-2741-1453-A163DCB9A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8748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F0AD-E468-3206-344E-FF2D7A8C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56825-2544-A4C5-79EC-A700DDFE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DB60F-C8B7-A6B3-531F-9B945FBEC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7BF2B5-885D-0223-EBFD-50F8A25BE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52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9B0BCC-6A89-28A2-C356-4BFBFBA5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B85B8A-A87B-15DF-7BCD-F19B64E10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687D6-81C4-BF7D-283D-4087D80DA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4506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F982C-D85F-3080-D893-80311063B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D5F36-DCF9-9DDF-7156-02A1EA002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E7251-C0B7-F436-950D-B9BA21E955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5D38CA-F31F-BF6D-1826-69A72B0A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9DF3D-696E-3CD7-4EE0-88782D51B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B770A-61F2-75B8-83EE-9AF75B27F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1416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7823-02AB-ABA3-4E7A-D4C500BB2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25562C-9540-0CBE-E092-DA1951AC7FA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1263C5-749E-A8AE-D25F-990011DC1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0DE76-62CD-E96C-1CD7-820452154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A23C1-DD1D-2A0A-05A9-C98CDA46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DB907-D3BA-B391-50D9-6CC65DA1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925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5326-4734-3023-3038-322455E26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1C3EEE-2294-5544-D21B-76B5FE9D7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7110A-08BD-3A50-2DF0-9EFEF97C7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6EB98-8A5D-5C7C-9794-6CCE7CD98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28702-A937-2E89-F4D6-8DFDD294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392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69283C-2704-962D-DB33-C6FD587C20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6F9E6F-A19E-9564-BB60-F5AF223DF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F5BC5-42DB-AF7D-7ABA-9DC777B1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8E39E-2C65-B2B3-7ADB-2FCA1B15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F8BC7-C0E6-A763-CA63-1DC67434B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75521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2C41D-9CA7-4CFD-24CA-C4CF99A54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7AF88-EC4D-E8FB-0381-A88F203CC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39E4DC-01C9-EB33-C25B-46910D44E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E36B0-D623-868D-1A32-2A844CEC9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3CA83-63BC-7201-C64D-C48C576D2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54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F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09728" cy="6858000"/>
          </a:xfrm>
          <a:prstGeom prst="rect">
            <a:avLst/>
          </a:prstGeom>
          <a:solidFill>
            <a:srgbClr val="E7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9184" y="0"/>
            <a:ext cx="109728" cy="6858000"/>
          </a:xfrm>
          <a:prstGeom prst="rect">
            <a:avLst/>
          </a:prstGeom>
          <a:solidFill>
            <a:srgbClr val="2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F626E"/>
                </a:solidFill>
                <a:latin typeface="Aptos"/>
              </a:rPr>
              <a:t>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549B1A-9DAB-C29C-CB14-E19B3B6057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1.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6F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Business-focused view of Adidas sales performance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0352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846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6F2A84"/>
                </a:solidFill>
                <a:latin typeface="Aptos"/>
              </a:rPr>
              <a:t>Project 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4800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Analyze Adidas sales performance across products, retailers, regions and sales methods.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Build an interactive Power BI dashboard for quick comparison and decision-making.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Use KPI cards and visual analysis to identify high-performing segments.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Compare 2020 and 2021 performance using the available year filters.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3492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81912"/>
            <a:ext cx="4892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87DDC"/>
                </a:solidFill>
                <a:latin typeface="Aptos"/>
              </a:rPr>
              <a:t>Key Analysis Areas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984248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Overall sales and units sold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Retailer-wise performance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Product-wise performance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Region-wise performance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Sales-method contribution: In-store, Outlet and Online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Monthly / yearly comparison indicators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F626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2. Dashboard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2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The report is organized into four analytical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6F2A84"/>
                </a:solidFill>
                <a:latin typeface="Aptos"/>
              </a:rPr>
              <a:t>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49393"/>
            <a:ext cx="443484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5F626E"/>
                </a:solidFill>
                <a:latin typeface="Aptos"/>
              </a:rPr>
              <a:t>Executive summary </a:t>
            </a:r>
            <a:r>
              <a:rPr lang="en-IN" sz="1250" b="0" dirty="0">
                <a:solidFill>
                  <a:srgbClr val="5F626E"/>
                </a:solidFill>
                <a:latin typeface="Aptos"/>
              </a:rPr>
              <a:t>of Dashboard </a:t>
            </a:r>
            <a:r>
              <a:rPr sz="1250" b="0" dirty="0">
                <a:solidFill>
                  <a:srgbClr val="5F626E"/>
                </a:solidFill>
                <a:latin typeface="Aptos"/>
              </a:rPr>
              <a:t>and KPIs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64592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6F2A84"/>
                </a:solidFill>
                <a:latin typeface="Aptos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41732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79" y="169164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E74C9A"/>
                </a:solidFill>
                <a:latin typeface="Aptos"/>
              </a:rPr>
              <a:t>Product Wise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28600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Product and state-level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164592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E74C9A"/>
                </a:solidFill>
                <a:latin typeface="Aptos"/>
              </a:rPr>
              <a:t>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4CB56F"/>
                </a:solidFill>
                <a:latin typeface="Aptos"/>
              </a:rPr>
              <a:t>Retailer Wise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3484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Retailer, region and product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79476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4CB56F"/>
                </a:solidFill>
                <a:latin typeface="Aptos"/>
              </a:rPr>
              <a:t>03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566160"/>
            <a:ext cx="50749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3840480"/>
            <a:ext cx="4389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>
                <a:solidFill>
                  <a:srgbClr val="287DDC"/>
                </a:solidFill>
                <a:latin typeface="Aptos"/>
              </a:rPr>
              <a:t>Region Wise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434840"/>
            <a:ext cx="4434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Regional sales, product mix and state detail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61320" y="3794760"/>
            <a:ext cx="502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800" b="1">
                <a:solidFill>
                  <a:srgbClr val="287DD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F626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3. Executive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6F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09797"/>
            <a:ext cx="1088136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 dirty="0">
                <a:solidFill>
                  <a:srgbClr val="5F626E"/>
                </a:solidFill>
                <a:latin typeface="Aptos"/>
              </a:rPr>
              <a:t>Top-level KPIs and </a:t>
            </a:r>
            <a:r>
              <a:rPr lang="en-IN" sz="1250" b="0" dirty="0">
                <a:solidFill>
                  <a:srgbClr val="5F626E"/>
                </a:solidFill>
                <a:latin typeface="Aptos"/>
              </a:rPr>
              <a:t>Dashboard </a:t>
            </a:r>
            <a:r>
              <a:rPr sz="1250" b="0" dirty="0">
                <a:solidFill>
                  <a:srgbClr val="5F626E"/>
                </a:solidFill>
                <a:latin typeface="Aptos"/>
              </a:rPr>
              <a:t>performance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6F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72184"/>
            <a:ext cx="292607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F626E"/>
                </a:solidFill>
                <a:latin typeface="Aptos"/>
              </a:rPr>
              <a:t>TOTAL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29260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91923"/>
                </a:solidFill>
                <a:latin typeface="Aptos"/>
              </a:rPr>
              <a:t>899.90M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29260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26E"/>
                </a:solidFill>
                <a:latin typeface="Aptos"/>
              </a:rPr>
              <a:t>Sum of Total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3258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73152" cy="1234440"/>
          </a:xfrm>
          <a:prstGeom prst="rect">
            <a:avLst/>
          </a:prstGeom>
          <a:solidFill>
            <a:srgbClr val="2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472184"/>
            <a:ext cx="292607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F626E"/>
                </a:solidFill>
                <a:latin typeface="Aptos"/>
              </a:rPr>
              <a:t>UNITS SOLD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782297"/>
            <a:ext cx="2926079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191923"/>
                </a:solidFill>
                <a:latin typeface="Aptos"/>
              </a:rPr>
              <a:t>2</a:t>
            </a:r>
            <a:r>
              <a:rPr lang="en-IN" sz="2500" b="1" dirty="0">
                <a:solidFill>
                  <a:srgbClr val="191923"/>
                </a:solidFill>
                <a:latin typeface="Aptos"/>
              </a:rPr>
              <a:t>.48</a:t>
            </a:r>
            <a:r>
              <a:rPr sz="2500" b="1" dirty="0">
                <a:solidFill>
                  <a:srgbClr val="191923"/>
                </a:solidFill>
                <a:latin typeface="Aptos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176272"/>
            <a:ext cx="29260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26E"/>
                </a:solidFill>
                <a:latin typeface="Aptos"/>
              </a:rPr>
              <a:t>Sum of Units Sold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25880"/>
            <a:ext cx="33375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73152" cy="1234440"/>
          </a:xfrm>
          <a:prstGeom prst="rect">
            <a:avLst/>
          </a:prstGeom>
          <a:solidFill>
            <a:srgbClr val="E7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472184"/>
            <a:ext cx="2926079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F626E"/>
                </a:solidFill>
                <a:latin typeface="Aptos"/>
              </a:rPr>
              <a:t>AVERAGE SALES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801368"/>
            <a:ext cx="292607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91923"/>
                </a:solidFill>
                <a:latin typeface="Aptos"/>
              </a:rPr>
              <a:t>93.27K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176272"/>
            <a:ext cx="2926079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26E"/>
                </a:solidFill>
                <a:latin typeface="Aptos"/>
              </a:rPr>
              <a:t>Average of Total Sales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27993" y="2698739"/>
            <a:ext cx="4506334" cy="3913633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7261274" y="2775204"/>
            <a:ext cx="3703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6F2A84"/>
                </a:solidFill>
                <a:latin typeface="Aptos"/>
              </a:rPr>
              <a:t>What the dashboard shows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5992" y="3059412"/>
            <a:ext cx="365760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West Gear, Foot Locker and Sports Direct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account for about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72% of total sales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, so revenue is concentrated in a few key retailers.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US" sz="1250" dirty="0">
                <a:solidFill>
                  <a:srgbClr val="191923"/>
                </a:solidFill>
                <a:latin typeface="Aptos"/>
              </a:rPr>
              <a:t>Walmart ranks </a:t>
            </a:r>
            <a:r>
              <a:rPr lang="en-US" sz="1250" b="1" dirty="0">
                <a:solidFill>
                  <a:srgbClr val="191923"/>
                </a:solidFill>
                <a:latin typeface="Aptos"/>
              </a:rPr>
              <a:t>last in total sales (74.56M)</a:t>
            </a:r>
            <a:r>
              <a:rPr lang="en-US" sz="1250" dirty="0">
                <a:solidFill>
                  <a:srgbClr val="191923"/>
                </a:solidFill>
                <a:latin typeface="Aptos"/>
              </a:rPr>
              <a:t> but </a:t>
            </a:r>
            <a:r>
              <a:rPr lang="en-US" sz="1250" b="1" dirty="0">
                <a:solidFill>
                  <a:srgbClr val="191923"/>
                </a:solidFill>
                <a:latin typeface="Aptos"/>
              </a:rPr>
              <a:t>first in average sale (119.1K)</a:t>
            </a:r>
            <a:r>
              <a:rPr lang="en-US" sz="1250" dirty="0">
                <a:solidFill>
                  <a:srgbClr val="191923"/>
                </a:solidFill>
                <a:latin typeface="Aptos"/>
              </a:rPr>
              <a:t>, because </a:t>
            </a:r>
            <a:r>
              <a:rPr lang="en-US" sz="1250" b="1" dirty="0">
                <a:solidFill>
                  <a:srgbClr val="191923"/>
                </a:solidFill>
                <a:latin typeface="Aptos"/>
              </a:rPr>
              <a:t>it places fewer but larger orders.</a:t>
            </a:r>
            <a:endParaRPr lang="en-IN" sz="1250" b="1" dirty="0">
              <a:solidFill>
                <a:srgbClr val="191923"/>
              </a:solidFill>
              <a:latin typeface="Aptos"/>
            </a:endParaRP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Product comparison places </a:t>
            </a:r>
            <a:r>
              <a:rPr b="1" dirty="0"/>
              <a:t>Men's Street Footwear at the top.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b="1" dirty="0"/>
              <a:t>In-store sales contribute the largest share</a:t>
            </a:r>
            <a:r>
              <a:rPr lang="en-IN" b="1" dirty="0"/>
              <a:t> ~40%</a:t>
            </a:r>
            <a:r>
              <a:rPr dirty="0"/>
              <a:t> among the three sales methods.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The map provides a regional view of sales distribution.</a:t>
            </a: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A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20/80 split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is exact in your data: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2021 delivered 80% of total sales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, about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4x the prior year.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US" sz="1250" dirty="0">
              <a:solidFill>
                <a:srgbClr val="191923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6490399"/>
            <a:ext cx="8686800" cy="22313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 dirty="0">
                <a:solidFill>
                  <a:srgbClr val="5F626E"/>
                </a:solidFill>
                <a:latin typeface="Aptos"/>
              </a:rPr>
              <a:t>Adidas Sales Analysis  |  Power BI Project</a:t>
            </a:r>
            <a:r>
              <a:rPr lang="en-IN" sz="850" b="0" dirty="0">
                <a:solidFill>
                  <a:srgbClr val="5F626E"/>
                </a:solidFill>
                <a:latin typeface="Aptos"/>
              </a:rPr>
              <a:t>f</a:t>
            </a:r>
            <a:endParaRPr sz="850" b="0" dirty="0">
              <a:solidFill>
                <a:srgbClr val="5F626E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F626E"/>
                </a:solidFill>
                <a:latin typeface="Aptos"/>
              </a:rPr>
              <a:t>4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DD4E708-8A99-25DA-53AC-504CC6C76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29" y="2754734"/>
            <a:ext cx="6253448" cy="37192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4. Product-Wise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E7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98255"/>
            <a:ext cx="10881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400" dirty="0"/>
              <a:t>Men's Apparel VS Women's Apparel</a:t>
            </a:r>
            <a:endParaRPr sz="1250" b="0" dirty="0">
              <a:solidFill>
                <a:srgbClr val="5F626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0" y="960120"/>
            <a:ext cx="416052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161288"/>
            <a:ext cx="3703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E74C9A"/>
                </a:solidFill>
                <a:latin typeface="Aptos"/>
              </a:rP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96943" y="1516888"/>
            <a:ext cx="365760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Sales: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Women's Apparel earns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179.0M (19.9%)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against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123.7M (13.7%)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for Men's Apparel, a gap of 55.3M.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Volume: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Women's sells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434K units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against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307K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(about 41% more).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Order size: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Both have about 1,600 transactions, but Women's average order is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111K vs 77K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(44% higher). The sales gap comes from larger orders, not more orders.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Growth: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Both grew about 4x in 2021: Women's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+309%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and Men's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+272%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. Women's gained share (19.3% to 20.0%) while Men's lost share (14.4% to 13.6%).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Latest-month momentum: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Both slowed,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Women's +9.4% and Men's +12.3%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, against about +45% for footwear.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Channels and states: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Both sell about 40% in-store, 32–33% outlet and 28–29% online. New York leads both (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12.6M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for Women's,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10.7M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for Men’s).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F626E"/>
                </a:solidFill>
                <a:latin typeface="Aptos"/>
              </a:rPr>
              <a:t>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EF14EA-8A5C-0579-BAB1-389FBCFFB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316736"/>
            <a:ext cx="6408225" cy="24424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A06212-7715-6AE5-70D3-9BAC54E58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54704"/>
            <a:ext cx="6408224" cy="24424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4BE077-0512-1611-3E54-700440D94F7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E0C6A-A7EF-2682-0BF0-D02A21D40A85}"/>
              </a:ext>
            </a:extLst>
          </p:cNvPr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4. Product-Wise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B3893-2DBA-1455-A11C-2E1EF5DB928E}"/>
              </a:ext>
            </a:extLst>
          </p:cNvPr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E7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B45C6D-0021-6930-61E1-6EFB50A98925}"/>
              </a:ext>
            </a:extLst>
          </p:cNvPr>
          <p:cNvSpPr txBox="1"/>
          <p:nvPr/>
        </p:nvSpPr>
        <p:spPr>
          <a:xfrm>
            <a:off x="594360" y="998255"/>
            <a:ext cx="10881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400" dirty="0"/>
              <a:t>Men's Street Footwear VS Women's Street Footwear</a:t>
            </a:r>
            <a:endParaRPr sz="1250" b="0" dirty="0">
              <a:solidFill>
                <a:srgbClr val="5F626E"/>
              </a:solidFill>
              <a:latin typeface="Aptos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1AABA53D-ECE2-CF9D-B6F2-A33296848AA8}"/>
              </a:ext>
            </a:extLst>
          </p:cNvPr>
          <p:cNvSpPr/>
          <p:nvPr/>
        </p:nvSpPr>
        <p:spPr>
          <a:xfrm>
            <a:off x="7315200" y="960120"/>
            <a:ext cx="416052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EEE0E9-EB9F-2011-EAD8-68FD4138B125}"/>
              </a:ext>
            </a:extLst>
          </p:cNvPr>
          <p:cNvSpPr txBox="1"/>
          <p:nvPr/>
        </p:nvSpPr>
        <p:spPr>
          <a:xfrm>
            <a:off x="7543800" y="1161288"/>
            <a:ext cx="3703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E74C9A"/>
                </a:solidFill>
                <a:latin typeface="Aptos"/>
              </a:rPr>
              <a:t>Key observations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8A758A-479F-B115-AA7C-C5D84F0E4189}"/>
              </a:ext>
            </a:extLst>
          </p:cNvPr>
          <p:cNvSpPr txBox="1"/>
          <p:nvPr/>
        </p:nvSpPr>
        <p:spPr>
          <a:xfrm>
            <a:off x="7596943" y="1516888"/>
            <a:ext cx="3657600" cy="42088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Sales: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Men's earns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208.8M (23.2%)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against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128.0M (14.2%)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for Women's. That is a gap of 80.8M, and Men's is the #1 product overall.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Volume: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Men's sells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593K units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against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392K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(about 51% more).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Growth and share: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Men's grew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+352%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(4.5x) against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+267%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(3.7x) for Women's. Men's gained about 3 points of share (20.8% to 23.8%), while Women's lost about 1 point (15.1% to 14.0%).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Profitability: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Men's margin is higher at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~39.9% vs ~35.2%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. Men's is best in the South and Southeast (about 42–43%) and weakest in the West (about 36%). Women's is best in the South (about 39%) and weakest in the Southeast (about 30%).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Channels and momentum: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Men's relies more on in-store (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43% vs 38%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), while Women's has a larger outlet share (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35% vs 30%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). Both have similar online shares (27%). The latest month is strong for both, at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+52.0% vs +45.1%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751850-6271-FD6A-257B-D574EC4493B6}"/>
              </a:ext>
            </a:extLst>
          </p:cNvPr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A86244-7A88-B072-5CD0-6901CDFFED74}"/>
              </a:ext>
            </a:extLst>
          </p:cNvPr>
          <p:cNvSpPr txBox="1"/>
          <p:nvPr/>
        </p:nvSpPr>
        <p:spPr>
          <a:xfrm>
            <a:off x="11201400" y="6472836"/>
            <a:ext cx="36576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1" dirty="0">
                <a:solidFill>
                  <a:srgbClr val="5F626E"/>
                </a:solidFill>
                <a:latin typeface="Aptos"/>
              </a:rPr>
              <a:t>6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2465D37-473D-B424-BA3F-8B0568BC9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98735"/>
            <a:ext cx="6408224" cy="24424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397B0AF-F835-FBFE-ABBD-24ECB7350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825240"/>
            <a:ext cx="6408224" cy="251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187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4E9CF6-ACF9-E0E4-236F-3514E7FD08C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216F1-81BD-B177-60BC-B3A68E787922}"/>
              </a:ext>
            </a:extLst>
          </p:cNvPr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4. Product-Wise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E2075B-43BC-56C6-0424-9411BBD75177}"/>
              </a:ext>
            </a:extLst>
          </p:cNvPr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E74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D317E5-5F40-45B5-AB02-D4D6110A2A55}"/>
              </a:ext>
            </a:extLst>
          </p:cNvPr>
          <p:cNvSpPr txBox="1"/>
          <p:nvPr/>
        </p:nvSpPr>
        <p:spPr>
          <a:xfrm>
            <a:off x="586740" y="998255"/>
            <a:ext cx="108813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IN" sz="1400" dirty="0"/>
              <a:t>Men's Athletic Footwear  VS Women's Athletic Footwear</a:t>
            </a:r>
            <a:endParaRPr sz="1250" b="0" dirty="0">
              <a:solidFill>
                <a:srgbClr val="5F626E"/>
              </a:solidFill>
              <a:latin typeface="Aptos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5F4FBA3C-BE27-384B-3076-EFD848D424FA}"/>
              </a:ext>
            </a:extLst>
          </p:cNvPr>
          <p:cNvSpPr/>
          <p:nvPr/>
        </p:nvSpPr>
        <p:spPr>
          <a:xfrm>
            <a:off x="7315200" y="960120"/>
            <a:ext cx="416052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A0524E-89DB-206B-AFD2-C0863E9F3BD6}"/>
              </a:ext>
            </a:extLst>
          </p:cNvPr>
          <p:cNvSpPr txBox="1"/>
          <p:nvPr/>
        </p:nvSpPr>
        <p:spPr>
          <a:xfrm>
            <a:off x="7543800" y="1161288"/>
            <a:ext cx="3703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dirty="0">
                <a:solidFill>
                  <a:srgbClr val="E74C9A"/>
                </a:solidFill>
                <a:latin typeface="Aptos"/>
              </a:rPr>
              <a:t>Key observations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7E6D72-E16C-380D-68A4-08FD1FFD4A44}"/>
              </a:ext>
            </a:extLst>
          </p:cNvPr>
          <p:cNvSpPr txBox="1"/>
          <p:nvPr/>
        </p:nvSpPr>
        <p:spPr>
          <a:xfrm>
            <a:off x="7596943" y="1516888"/>
            <a:ext cx="3657600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Sales: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Men's earns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153.7M (17.1%)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against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106.6M (11.8%)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for Women's. That is a gap of 47.0M, with Men's about 44% bigger. Women's is the smallest of all six products.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Order size drives the gap: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Both have about 1,600 transactions. Men's average order is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95K vs 66K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(44% higher), with about 271 vs 197 units per order. Men's also sells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436K units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against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317K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(about 38% more).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Growth and share: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Men's grew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+283%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against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+251%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for Women's. Both lost share in 2021, but Women's lost more (13.0% to 11.6%, against 17.5% to 17.0%). Women's is the product shrinking fastest in the mix.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</a:t>
            </a:r>
            <a:r>
              <a:rPr lang="en-US" dirty="0"/>
              <a:t> </a:t>
            </a:r>
            <a:r>
              <a:rPr lang="en-US" sz="1250" b="1" dirty="0">
                <a:solidFill>
                  <a:srgbClr val="191923"/>
                </a:solidFill>
                <a:latin typeface="Aptos"/>
              </a:rPr>
              <a:t>Channels and states:</a:t>
            </a:r>
            <a:r>
              <a:rPr lang="en-US" sz="1250" dirty="0">
                <a:solidFill>
                  <a:srgbClr val="191923"/>
                </a:solidFill>
                <a:latin typeface="Aptos"/>
              </a:rPr>
              <a:t> Both split almost the same way, with in-store about 38%, outlet 34% and online 27–28%. California leads both products (</a:t>
            </a:r>
            <a:r>
              <a:rPr lang="en-US" sz="1250" b="1" dirty="0">
                <a:solidFill>
                  <a:srgbClr val="191923"/>
                </a:solidFill>
                <a:latin typeface="Aptos"/>
              </a:rPr>
              <a:t>$10.9M</a:t>
            </a:r>
            <a:r>
              <a:rPr lang="en-US" sz="1250" dirty="0">
                <a:solidFill>
                  <a:srgbClr val="191923"/>
                </a:solidFill>
                <a:latin typeface="Aptos"/>
              </a:rPr>
              <a:t> for Men's, </a:t>
            </a:r>
            <a:r>
              <a:rPr lang="en-US" sz="1250" b="1" dirty="0">
                <a:solidFill>
                  <a:srgbClr val="191923"/>
                </a:solidFill>
                <a:latin typeface="Aptos"/>
              </a:rPr>
              <a:t>$8.2M</a:t>
            </a:r>
            <a:r>
              <a:rPr lang="en-US" sz="1250" dirty="0">
                <a:solidFill>
                  <a:srgbClr val="191923"/>
                </a:solidFill>
                <a:latin typeface="Aptos"/>
              </a:rPr>
              <a:t> for Women’s).</a:t>
            </a:r>
            <a:endParaRPr lang="en-IN" sz="1250" dirty="0">
              <a:solidFill>
                <a:srgbClr val="191923"/>
              </a:solidFill>
              <a:latin typeface="Apto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FE31A6-28D4-A5AA-ACA9-AE7054EC1447}"/>
              </a:ext>
            </a:extLst>
          </p:cNvPr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89076D-8D03-9AD6-BF12-D2F08AED0761}"/>
              </a:ext>
            </a:extLst>
          </p:cNvPr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1" dirty="0">
                <a:solidFill>
                  <a:srgbClr val="5F626E"/>
                </a:solidFill>
                <a:latin typeface="Aptos"/>
              </a:rPr>
              <a:t>7</a:t>
            </a:r>
            <a:endParaRPr sz="900" b="1" dirty="0">
              <a:solidFill>
                <a:srgbClr val="5F626E"/>
              </a:solidFill>
              <a:latin typeface="Apto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3F40EF9-B7F0-DA3F-225D-D00E638DC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1" y="1244786"/>
            <a:ext cx="6392983" cy="251604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6A82C43-C261-E69A-34B5-4F6718F2A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71" y="3857274"/>
            <a:ext cx="6404513" cy="261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755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5. Retailer-Wise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4CB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009797"/>
            <a:ext cx="10881360" cy="28469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IN" sz="1250" dirty="0">
                <a:solidFill>
                  <a:srgbClr val="5F626E"/>
                </a:solidFill>
                <a:latin typeface="Aptos"/>
              </a:rPr>
              <a:t>Retailer Wise total Sales Comparison |  Year Wise Comparison of Retailers</a:t>
            </a:r>
            <a:endParaRPr sz="1250" b="0" dirty="0">
              <a:solidFill>
                <a:srgbClr val="5F626E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60920" y="1325880"/>
            <a:ext cx="4114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1490472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4CB56F"/>
                </a:solidFill>
                <a:latin typeface="Aptos"/>
              </a:rPr>
              <a:t>Retailer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1892807"/>
            <a:ext cx="361188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Three retailers drive 72% of sales.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West Gear (243.0M), Foot Locker (220.1M) and Sports Direct (182.5M) total 645.5M of 899.9M.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2021 was the breakout year.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Sports Direct grew about 11x and Foot Locker 4.1x. Amazon and Kohl's had almost no 2020 sales, and Walmart grew only 27%.</a:t>
            </a: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West Gear's share fell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from about 50% of 2020 sales to 21% of 2021 sales, because others grew faster.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1" dirty="0">
                <a:solidFill>
                  <a:srgbClr val="5F626E"/>
                </a:solidFill>
                <a:latin typeface="Aptos"/>
              </a:rPr>
              <a:t>8</a:t>
            </a:r>
            <a:endParaRPr sz="900" b="1" dirty="0">
              <a:solidFill>
                <a:srgbClr val="5F626E"/>
              </a:solidFill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8683DF-5FBD-EF86-933F-A1BB13759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1316736"/>
            <a:ext cx="6263640" cy="24902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BCA645-5105-6F25-C16B-B8183E6D4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" y="3915156"/>
            <a:ext cx="6263640" cy="24307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469386-5CB0-5B52-DE85-DA401EA22CFB}"/>
              </a:ext>
            </a:extLst>
          </p:cNvPr>
          <p:cNvSpPr/>
          <p:nvPr/>
        </p:nvSpPr>
        <p:spPr>
          <a:xfrm>
            <a:off x="0" y="-140208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D553D-48F3-9EC8-3E78-6A45FB615AFE}"/>
              </a:ext>
            </a:extLst>
          </p:cNvPr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5. Retailer-Wise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6CB3AB-55C7-D6A5-99A8-11AE02933DE6}"/>
              </a:ext>
            </a:extLst>
          </p:cNvPr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4CB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697B5-88C0-F2A1-3757-4F8AF2DFB694}"/>
              </a:ext>
            </a:extLst>
          </p:cNvPr>
          <p:cNvSpPr txBox="1"/>
          <p:nvPr/>
        </p:nvSpPr>
        <p:spPr>
          <a:xfrm>
            <a:off x="594360" y="96012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Retailer performance is compared across regions, products and operating profit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AFC3F320-334F-945F-5BA8-4CC688D8DBF8}"/>
              </a:ext>
            </a:extLst>
          </p:cNvPr>
          <p:cNvSpPr/>
          <p:nvPr/>
        </p:nvSpPr>
        <p:spPr>
          <a:xfrm>
            <a:off x="7360920" y="1325880"/>
            <a:ext cx="4114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A8A287-4B96-17B9-1BE6-8EF1076211E8}"/>
              </a:ext>
            </a:extLst>
          </p:cNvPr>
          <p:cNvSpPr txBox="1"/>
          <p:nvPr/>
        </p:nvSpPr>
        <p:spPr>
          <a:xfrm>
            <a:off x="7589520" y="1490472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4CB56F"/>
                </a:solidFill>
                <a:latin typeface="Aptos"/>
              </a:rPr>
              <a:t>Retailer insights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D0DE2F-9AA3-3DF1-ADBB-E51EEE3BD0F5}"/>
              </a:ext>
            </a:extLst>
          </p:cNvPr>
          <p:cNvSpPr txBox="1"/>
          <p:nvPr/>
        </p:nvSpPr>
        <p:spPr>
          <a:xfrm>
            <a:off x="7616952" y="1892807"/>
            <a:ext cx="361188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Each retailer has an anchor region.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West Gear and Kohl's depend on the West (57% and 61% of their sales), Sports Direct on the South (36%), Walmart on the South (44%) and Amazon on the Northeast (47%). Foot Locker is the most balanced.</a:t>
            </a:r>
            <a:r>
              <a:rPr dirty="0"/>
              <a:t>• </a:t>
            </a: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Walmart is the weak spot.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It has the lowest sales, the lowest margin (34.6%) and the only month-on-month decline (−43.4%). Its average sale is the highest, so it has fewer but larger orders.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250" b="1" dirty="0">
                <a:solidFill>
                  <a:srgbClr val="191923"/>
                </a:solidFill>
                <a:latin typeface="Aptos"/>
              </a:rPr>
              <a:t>Margins are tightly grouped.</a:t>
            </a:r>
            <a:r>
              <a:rPr lang="en-IN" sz="1250" dirty="0">
                <a:solidFill>
                  <a:srgbClr val="191923"/>
                </a:solidFill>
                <a:latin typeface="Aptos"/>
              </a:rPr>
              <a:t> All six retailers sit between about 35% and 38%, so growth matters more than margin differences here.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ADBF27-0AF0-E60F-7659-8D95541DD4EA}"/>
              </a:ext>
            </a:extLst>
          </p:cNvPr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589985-7E11-95FF-591D-0BA89A8CAF84}"/>
              </a:ext>
            </a:extLst>
          </p:cNvPr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1" dirty="0">
                <a:solidFill>
                  <a:srgbClr val="5F626E"/>
                </a:solidFill>
                <a:latin typeface="Aptos"/>
              </a:rPr>
              <a:t>9</a:t>
            </a:r>
            <a:endParaRPr sz="900" b="1" dirty="0">
              <a:solidFill>
                <a:srgbClr val="5F626E"/>
              </a:solidFill>
              <a:latin typeface="Apto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2B73C60-2D46-A986-0E65-37E9F4844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43" y="1344169"/>
            <a:ext cx="6406918" cy="225704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5999DD41-11F6-3ABE-02C4-212020A0D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61" y="3726180"/>
            <a:ext cx="6355081" cy="259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510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7855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6. Region-Wise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2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Regional performance is drilled down to retailer, product and state level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1325880"/>
            <a:ext cx="41148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1490472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287DDC"/>
                </a:solidFill>
                <a:latin typeface="Aptos"/>
              </a:rPr>
              <a:t>Regional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6952" y="1892807"/>
            <a:ext cx="361188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The West leads with 269.9M (30.0%), almost double the Midwest's 135.8M.</a:t>
            </a:r>
            <a:endParaRPr lang="en-IN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• The West and Northeast together make up about half of all sales (50.7%).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• West – California is highest State in Sales 60M Total 12 States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• Northeast – Florida state is highest in Sales 59M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Total 6 States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• </a:t>
            </a:r>
            <a:r>
              <a:rPr lang="en-US" b="1" dirty="0"/>
              <a:t>West Gear is 51% of West sales</a:t>
            </a:r>
            <a:r>
              <a:rPr lang="en-US" dirty="0"/>
              <a:t>, and Sports Direct is 45% of South sales.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rPr lang="en-US" dirty="0"/>
              <a:t>• Foot Locker is the top retailer in the Northeast, Southeast and Midwest.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US" dirty="0"/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1" dirty="0">
                <a:solidFill>
                  <a:srgbClr val="5F626E"/>
                </a:solidFill>
                <a:latin typeface="Aptos"/>
              </a:rPr>
              <a:t>10</a:t>
            </a:r>
            <a:endParaRPr sz="900" b="1" dirty="0">
              <a:solidFill>
                <a:srgbClr val="5F626E"/>
              </a:solidFill>
              <a:latin typeface="Apto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E79A52C-C9D9-4DF2-C299-FCE6111A3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85" y="1362451"/>
            <a:ext cx="6263815" cy="240182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11488E7-9BAD-E5B5-A34C-D507FF505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84" y="3724650"/>
            <a:ext cx="6263816" cy="24627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7. Sales Method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F1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Sales are distributed across In-store, Outlet and Online channels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73152" cy="1325880"/>
          </a:xfrm>
          <a:prstGeom prst="rect">
            <a:avLst/>
          </a:prstGeom>
          <a:solidFill>
            <a:srgbClr val="287D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472184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F626E"/>
                </a:solidFill>
                <a:latin typeface="Aptos"/>
              </a:rPr>
              <a:t>IN-STORE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01368"/>
            <a:ext cx="2971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91923"/>
                </a:solidFill>
                <a:latin typeface="Aptos"/>
              </a:rPr>
              <a:t>356.64M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67712"/>
            <a:ext cx="2971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26E"/>
                </a:solidFill>
                <a:latin typeface="Aptos"/>
              </a:rPr>
              <a:t>39.63% of total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325880"/>
            <a:ext cx="73152" cy="1325880"/>
          </a:xfrm>
          <a:prstGeom prst="rect">
            <a:avLst/>
          </a:prstGeom>
          <a:solidFill>
            <a:srgbClr val="F197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472184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F626E"/>
                </a:solidFill>
                <a:latin typeface="Aptos"/>
              </a:rPr>
              <a:t>OUTLET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801368"/>
            <a:ext cx="2971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191923"/>
                </a:solidFill>
                <a:latin typeface="Aptos"/>
              </a:rPr>
              <a:t>295.59M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67712"/>
            <a:ext cx="2971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26E"/>
                </a:solidFill>
                <a:latin typeface="Aptos"/>
              </a:rPr>
              <a:t>32.85% of total sales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32588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37575" y="1325880"/>
            <a:ext cx="73152" cy="1325880"/>
          </a:xfrm>
          <a:prstGeom prst="rect">
            <a:avLst/>
          </a:prstGeom>
          <a:solidFill>
            <a:srgbClr val="6F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66175" y="1472184"/>
            <a:ext cx="2971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5F626E"/>
                </a:solidFill>
                <a:latin typeface="Aptos"/>
              </a:rPr>
              <a:t>ONLINE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5" y="1801368"/>
            <a:ext cx="29718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 dirty="0">
                <a:solidFill>
                  <a:srgbClr val="191923"/>
                </a:solidFill>
                <a:latin typeface="Aptos"/>
              </a:rPr>
              <a:t>247.67M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5" y="2267712"/>
            <a:ext cx="297180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950" b="0">
                <a:solidFill>
                  <a:srgbClr val="5F626E"/>
                </a:solidFill>
                <a:latin typeface="Aptos"/>
              </a:rPr>
              <a:t>27.52% of total sales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2971800"/>
            <a:ext cx="49834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3136392"/>
            <a:ext cx="45262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1974B"/>
                </a:solidFill>
                <a:latin typeface="Aptos"/>
              </a:rP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3538728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In-store is the largest sales method in the dashboard.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Outlet is the second-largest contributor.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Online contributes the smallest of the three channels, while still representing more than one-quarter of total sales.</a:t>
            </a:r>
          </a:p>
          <a:p>
            <a:pPr>
              <a:spcAft>
                <a:spcPts val="900"/>
              </a:spcAft>
              <a:defRPr sz="1250">
                <a:solidFill>
                  <a:srgbClr val="191923"/>
                </a:solidFill>
                <a:latin typeface="Aptos"/>
              </a:defRPr>
            </a:pPr>
            <a:r>
              <a:t>• This comparison helps evaluate channel mix at an executive level.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1" dirty="0">
                <a:solidFill>
                  <a:srgbClr val="5F626E"/>
                </a:solidFill>
                <a:latin typeface="Aptos"/>
              </a:rPr>
              <a:t>11</a:t>
            </a:r>
            <a:endParaRPr sz="900" b="1" dirty="0">
              <a:solidFill>
                <a:srgbClr val="5F626E"/>
              </a:solidFill>
              <a:latin typeface="Aptos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DA4AFA5-4831-8D2B-15FD-DFD46FD9E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2926080"/>
            <a:ext cx="4983479" cy="31729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700" b="1">
                <a:solidFill>
                  <a:srgbClr val="191923"/>
                </a:solidFill>
                <a:latin typeface="Aptos"/>
              </a:rPr>
              <a:t>8. Key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960120" cy="64008"/>
          </a:xfrm>
          <a:prstGeom prst="rect">
            <a:avLst/>
          </a:prstGeom>
          <a:solidFill>
            <a:srgbClr val="6F2A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08813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50" b="0">
                <a:solidFill>
                  <a:srgbClr val="5F626E"/>
                </a:solidFill>
                <a:latin typeface="Aptos"/>
              </a:rPr>
              <a:t>What can be communicated from the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4709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F2A84"/>
                </a:solidFill>
                <a:latin typeface="Aptos"/>
              </a:rPr>
              <a:t>Overall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75347"/>
            <a:ext cx="4663440" cy="264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 dirty="0">
                <a:solidFill>
                  <a:srgbClr val="191923"/>
                </a:solidFill>
                <a:latin typeface="Aptos"/>
              </a:rPr>
              <a:t>The dashboard reports 899.90M total sales and 2</a:t>
            </a:r>
            <a:r>
              <a:rPr lang="en-IN" sz="1120" b="0" dirty="0">
                <a:solidFill>
                  <a:srgbClr val="191923"/>
                </a:solidFill>
                <a:latin typeface="Aptos"/>
              </a:rPr>
              <a:t>.48</a:t>
            </a:r>
            <a:r>
              <a:rPr sz="1120" b="0" dirty="0">
                <a:solidFill>
                  <a:srgbClr val="191923"/>
                </a:solidFill>
                <a:latin typeface="Aptos"/>
              </a:rPr>
              <a:t>M units sold.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490472"/>
            <a:ext cx="4709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CB56F"/>
                </a:solidFill>
                <a:latin typeface="Aptos"/>
              </a:rPr>
              <a:t>Top retailer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856231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91923"/>
                </a:solidFill>
                <a:latin typeface="Aptos"/>
              </a:rPr>
              <a:t>West Gear is the highest retailer in the main sales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090672"/>
            <a:ext cx="4709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E74C9A"/>
                </a:solidFill>
                <a:latin typeface="Aptos"/>
              </a:rPr>
              <a:t>Top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5643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91923"/>
                </a:solidFill>
                <a:latin typeface="Aptos"/>
              </a:rPr>
              <a:t>Men's Street Footwear leads the product comparison.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260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090672"/>
            <a:ext cx="4709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287DDC"/>
                </a:solidFill>
                <a:latin typeface="Aptos"/>
              </a:rPr>
              <a:t>Top sales method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45643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91923"/>
                </a:solidFill>
                <a:latin typeface="Aptos"/>
              </a:rPr>
              <a:t>In-store contributes 39.63%, the largest channel share.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262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690872"/>
            <a:ext cx="4709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1974B"/>
                </a:solidFill>
                <a:latin typeface="Aptos"/>
              </a:rPr>
              <a:t>Regional drill-down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5663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91923"/>
                </a:solidFill>
                <a:latin typeface="Aptos"/>
              </a:rPr>
              <a:t>The report enables comparison of five regions and their states.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5262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4690872"/>
            <a:ext cx="470916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6F2A84"/>
                </a:solidFill>
                <a:latin typeface="Aptos"/>
              </a:rPr>
              <a:t>Decision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5056632"/>
            <a:ext cx="4663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20" b="0">
                <a:solidFill>
                  <a:srgbClr val="191923"/>
                </a:solidFill>
                <a:latin typeface="Aptos"/>
              </a:rPr>
              <a:t>Interactive year, retailer, product and region views make the dashboard useful for performance monitoring.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lang="en-IN" sz="900" b="1" dirty="0">
                <a:solidFill>
                  <a:srgbClr val="5F626E"/>
                </a:solidFill>
                <a:latin typeface="Aptos"/>
              </a:rPr>
              <a:t>12</a:t>
            </a:r>
            <a:endParaRPr sz="900" b="1" dirty="0">
              <a:solidFill>
                <a:srgbClr val="5F626E"/>
              </a:solidFill>
              <a:latin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3657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0">
                <a:solidFill>
                  <a:srgbClr val="E1E1EB"/>
                </a:solidFill>
                <a:latin typeface="Aptos"/>
              </a:rPr>
              <a:t>A single Power BI report brings together sales, product, retailer and regional analysis.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2880360" cy="1691640"/>
          </a:xfrm>
          <a:prstGeom prst="roundRect">
            <a:avLst/>
          </a:prstGeom>
          <a:solidFill>
            <a:srgbClr val="2D2D3A"/>
          </a:solidFill>
          <a:ln>
            <a:solidFill>
              <a:srgbClr val="6F2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2999232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6F2A84"/>
                </a:solidFill>
                <a:latin typeface="Aptos"/>
              </a:rPr>
              <a:t>MEASURE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93008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Track overall sales, units and average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2743200"/>
            <a:ext cx="2880360" cy="1691640"/>
          </a:xfrm>
          <a:prstGeom prst="roundRect">
            <a:avLst/>
          </a:prstGeom>
          <a:solidFill>
            <a:srgbClr val="2D2D3A"/>
          </a:solidFill>
          <a:ln>
            <a:solidFill>
              <a:srgbClr val="4CB5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2999232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CB56F"/>
                </a:solidFill>
                <a:latin typeface="Aptos"/>
              </a:rPr>
              <a:t>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3493008"/>
            <a:ext cx="2331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>
                <a:solidFill>
                  <a:srgbClr val="FFFFFF"/>
                </a:solidFill>
                <a:latin typeface="Aptos"/>
              </a:rPr>
              <a:t>Identify leading products, retailers, regions and channels.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2743200"/>
            <a:ext cx="2880360" cy="1691640"/>
          </a:xfrm>
          <a:prstGeom prst="roundRect">
            <a:avLst/>
          </a:prstGeom>
          <a:solidFill>
            <a:srgbClr val="2D2D3A"/>
          </a:solidFill>
          <a:ln>
            <a:solidFill>
              <a:srgbClr val="287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2999232"/>
            <a:ext cx="2423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287DDC"/>
                </a:solidFill>
                <a:latin typeface="Aptos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478564"/>
            <a:ext cx="2331720" cy="623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50" b="0" dirty="0">
                <a:solidFill>
                  <a:srgbClr val="FFFFFF"/>
                </a:solidFill>
                <a:latin typeface="Aptos"/>
              </a:rPr>
              <a:t>Use drill-down views to support</a:t>
            </a:r>
            <a:r>
              <a:rPr lang="en-IN" sz="1150" b="0" dirty="0">
                <a:solidFill>
                  <a:srgbClr val="FFFFFF"/>
                </a:solidFill>
                <a:latin typeface="Aptos"/>
              </a:rPr>
              <a:t> Comparison and</a:t>
            </a:r>
            <a:r>
              <a:rPr sz="1150" b="0" dirty="0">
                <a:solidFill>
                  <a:srgbClr val="FFFFFF"/>
                </a:solidFill>
                <a:latin typeface="Aptos"/>
              </a:rPr>
              <a:t> performance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2743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71500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B4B4C3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86868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5F626E"/>
                </a:solidFill>
                <a:latin typeface="Aptos"/>
              </a:rPr>
              <a:t>Adidas Sales Analysis  |  Power BI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3657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900" b="1">
                <a:solidFill>
                  <a:srgbClr val="5F626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</TotalTime>
  <Words>1574</Words>
  <Application>Microsoft Office PowerPoint</Application>
  <PresentationFormat>Widescreen</PresentationFormat>
  <Paragraphs>165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Rohit Jadhav</dc:creator>
  <cp:keywords/>
  <dc:description>generated using python-pptx</dc:description>
  <cp:lastModifiedBy>Rohit Jadhav</cp:lastModifiedBy>
  <cp:revision>4</cp:revision>
  <dcterms:created xsi:type="dcterms:W3CDTF">2013-01-27T09:14:16Z</dcterms:created>
  <dcterms:modified xsi:type="dcterms:W3CDTF">2026-10-09T04:00:00Z</dcterms:modified>
  <cp:category/>
</cp:coreProperties>
</file>